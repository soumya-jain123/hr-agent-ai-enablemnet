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Score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28-4B52-90A8-FF4E39CA4E30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28-4B52-90A8-FF4E39CA4E30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228-4B52-90A8-FF4E39CA4E30}"/>
              </c:ext>
            </c:extLst>
          </c:dPt>
          <c:dPt>
            <c:idx val="3"/>
            <c:invertIfNegative val="0"/>
            <c:bubble3D val="0"/>
            <c:spPr>
              <a:solidFill>
                <a:srgbClr val="DC8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228-4B52-90A8-FF4E39CA4E30}"/>
              </c:ext>
            </c:extLst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228-4B52-90A8-FF4E39CA4E3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Arjun Mehta
(6yr React)</c:v>
                </c:pt>
                <c:pt idx="1">
                  <c:v>Priya Sharma
(4yr React)</c:v>
                </c:pt>
                <c:pt idx="2">
                  <c:v>Rohit Verma
(Vue/Angular)</c:v>
                </c:pt>
                <c:pt idx="3">
                  <c:v>Sneha Pillai
(Intern)</c:v>
                </c:pt>
                <c:pt idx="4">
                  <c:v>Vikram Nair
(PHP Backend)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</c:v>
                </c:pt>
                <c:pt idx="1">
                  <c:v>7</c:v>
                </c:pt>
                <c:pt idx="2">
                  <c:v>4.5</c:v>
                </c:pt>
                <c:pt idx="3">
                  <c:v>2.5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228-4B52-90A8-FF4E39CA4E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92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8229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HR Resume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02920" y="15087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</a:rPr>
              <a:t>Shortlisting Agent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502920" y="233172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257175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AI-powered candidate scoring &amp; ranked shortlisting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built for the AI Enablement Internship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Task 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4480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A7F8"/>
                </a:solidFill>
              </a:rPr>
              <a:t>By – Soumya Jain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7CA7F8"/>
                </a:solidFill>
              </a:rPr>
              <a:t>Sap - 500119436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548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A7F8"/>
                </a:solidFill>
              </a:rPr>
              <a:t>Stack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804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React + Vite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1078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Node + Express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1353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MongoDB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1627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Claude Sonnet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1901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OpenRouter API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2176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PDFKit Reports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— Manual Resume Screening Doesn't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1234440"/>
          </a:xfrm>
          <a:prstGeom prst="rect">
            <a:avLst/>
          </a:prstGeom>
          <a:solidFill>
            <a:srgbClr val="DBEAFE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19202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456"/>
                </a:solidFill>
              </a:rPr>
              <a:t>250+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30375"/>
            <a:ext cx="19202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Avg. applications per role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234440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68880" y="1024128"/>
            <a:ext cx="19202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2400E"/>
                </a:solidFill>
              </a:rPr>
              <a:t>6 sec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630375"/>
            <a:ext cx="19202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Time spent on each resume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20240" cy="1234440"/>
          </a:xfrm>
          <a:prstGeom prst="rect">
            <a:avLst/>
          </a:prstGeom>
          <a:solidFill>
            <a:srgbClr val="FEE2E2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17720" y="1024128"/>
            <a:ext cx="19202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91B1B"/>
                </a:solidFill>
              </a:rPr>
              <a:t>48%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630375"/>
            <a:ext cx="19202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HR decisions show unconscious bias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20240" cy="1234440"/>
          </a:xfrm>
          <a:prstGeom prst="rect">
            <a:avLst/>
          </a:prstGeom>
          <a:solidFill>
            <a:srgbClr val="DCFCE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66560" y="1024128"/>
            <a:ext cx="19202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532D"/>
                </a:solidFill>
              </a:rPr>
              <a:t>3 wks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630375"/>
            <a:ext cx="192024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Average time-to-shortlist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56"/>
                </a:solidFill>
              </a:rPr>
              <a:t>Key Pain Points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114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30352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Fatigue &amp; inconsistency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099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Evaluators apply different standards across candidates in the same batch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114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19472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Unconscious bias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3099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Irrelevant factors like name, university, or formatting influence scores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114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30352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audit trail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3968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Decisions can't be explained or reviewed after the fact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1148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19472" y="3712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High volume, low value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3968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Screeners spend 80% of time on clearly unsuitable candidates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Our Solution — AI Agent for End-to-End Candidate Evaluation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563EB"/>
                </a:solidFill>
              </a:rPr>
              <a:t>One upload. Five dimensions. Ranked shortlist in seconds.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88920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JD Parser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305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Extracts skills, experience, education &amp; domain from any job description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325880"/>
            <a:ext cx="2788920" cy="1371600"/>
          </a:xfrm>
          <a:prstGeom prst="rect">
            <a:avLst/>
          </a:prstGeom>
          <a:solidFill>
            <a:srgbClr val="DCFCE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55848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5584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Resume Ingestion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21305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Accepts PDF &amp; DOCX resumes — up to 20 files, 5 MB each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325880"/>
            <a:ext cx="2788920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00216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0216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LLM Scoring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1305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Claude scores each candidate on 5 dimensions with one-line justifications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62072"/>
            <a:ext cx="2788920" cy="1371600"/>
          </a:xfrm>
          <a:prstGeom prst="rect">
            <a:avLst/>
          </a:prstGeom>
          <a:solidFill>
            <a:srgbClr val="F3E8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Ranked Shortlist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6667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Weighted totals computed, candidates sorted; hire/no-hire flag at 6.0/10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2862072"/>
            <a:ext cx="2788920" cy="1371600"/>
          </a:xfrm>
          <a:prstGeom prst="rect">
            <a:avLst/>
          </a:prstGeom>
          <a:solidFill>
            <a:srgbClr val="FCE7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55848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55848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Human Override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36667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HR adjusts any score with a reason; every change logged to AuditLog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2862072"/>
            <a:ext cx="2788920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00216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0216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Report Export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0216" y="36667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Download PDF or JSON shortlist report with full rubric breakdown per candidate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Agent Architecture — Custom Sequential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024128" cy="96012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3504" y="795528"/>
            <a:ext cx="365760" cy="365760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3504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HR Uploads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490472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JD text + resume files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298448" y="1531620"/>
            <a:ext cx="73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71600" y="1051560"/>
            <a:ext cx="1024128" cy="960120"/>
          </a:xfrm>
          <a:prstGeom prst="rect">
            <a:avLst/>
          </a:prstGeom>
          <a:solidFill>
            <a:srgbClr val="DBEAFE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700784" y="795528"/>
            <a:ext cx="365760" cy="365760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700784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11612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JD Parser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1490472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jdParser.js → JSON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95728" y="1531620"/>
            <a:ext cx="73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468880" y="1051560"/>
            <a:ext cx="1024128" cy="960120"/>
          </a:xfrm>
          <a:prstGeom prst="rect">
            <a:avLst/>
          </a:prstGeom>
          <a:solidFill>
            <a:srgbClr val="DBEAFE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98064" y="795528"/>
            <a:ext cx="365760" cy="365760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98064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11612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Profile Parser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1490472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profileParser.js → JSON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93008" y="1531620"/>
            <a:ext cx="73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566160" y="1051560"/>
            <a:ext cx="1024128" cy="960120"/>
          </a:xfrm>
          <a:prstGeom prst="rect">
            <a:avLst/>
          </a:prstGeom>
          <a:solidFill>
            <a:srgbClr val="DBEAFE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95344" y="795528"/>
            <a:ext cx="365760" cy="365760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95344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11612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Score 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1490472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scoreAgent.js → 5 scores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90288" y="1531620"/>
            <a:ext cx="73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1051560"/>
            <a:ext cx="1024128" cy="960120"/>
          </a:xfrm>
          <a:prstGeom prst="rect">
            <a:avLst/>
          </a:prstGeom>
          <a:solidFill>
            <a:srgbClr val="DCFCE7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992624" y="795528"/>
            <a:ext cx="365760" cy="365760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92624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11612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Rank Engine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1490472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rankEngine.js → sorted list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87568" y="1531620"/>
            <a:ext cx="73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760720" y="1051560"/>
            <a:ext cx="1024128" cy="960120"/>
          </a:xfrm>
          <a:prstGeom prst="rect">
            <a:avLst/>
          </a:prstGeom>
          <a:solidFill>
            <a:srgbClr val="F3E8FF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089904" y="795528"/>
            <a:ext cx="365760" cy="365760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089904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60720" y="11612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60720" y="1490472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React shortlist UI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84848" y="1531620"/>
            <a:ext cx="73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858000" y="1051560"/>
            <a:ext cx="1024128" cy="960120"/>
          </a:xfrm>
          <a:prstGeom prst="rect">
            <a:avLst/>
          </a:prstGeom>
          <a:solidFill>
            <a:srgbClr val="FEF3C7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187184" y="795528"/>
            <a:ext cx="365760" cy="365760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187184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11612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Override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1490472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HR adjusts + AuditLog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882128" y="1531620"/>
            <a:ext cx="73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955280" y="1051560"/>
            <a:ext cx="1024128" cy="960120"/>
          </a:xfrm>
          <a:prstGeom prst="rect">
            <a:avLst/>
          </a:prstGeom>
          <a:solidFill>
            <a:srgbClr val="FCE7F3"/>
          </a:solidFill>
          <a:ln w="1016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284464" y="795528"/>
            <a:ext cx="365760" cy="365760"/>
          </a:xfrm>
          <a:prstGeom prst="ellipse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284464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955280" y="11612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Report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55280" y="1490472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PDF / JSON export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2331720"/>
            <a:ext cx="8595360" cy="1005840"/>
          </a:xfrm>
          <a:prstGeom prst="rect">
            <a:avLst/>
          </a:prstGeom>
          <a:solidFill>
            <a:srgbClr val="F0F9FF"/>
          </a:solidFill>
          <a:ln w="1016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LLM Calls (Claude via OpenRouter)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2743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jdParser.js: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920240" y="27432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System prompt → JSON with skills, experience_years, education, certifications, domain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29443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profileParser.js: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920240" y="29443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System prompt → JSON with name, skills, experience_years, education, projects, communication_quality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7200" y="31455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scoreAgent.js: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920240" y="31455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System prompt with rubric → JSON with 5 dimension scores (0–10) + one-line justifications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74320" y="43891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563EB"/>
                </a:solidFill>
              </a:rPr>
              <a:t>All LLM calls: structured JSON output  ·  markdown fence stripping  ·  one retry on parse failure  ·  score clamping [0–10]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LLM Choice — Claude Sonnet via OpenRouter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828800" cy="3840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Criterion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914400"/>
            <a:ext cx="1645920" cy="3840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103120" y="914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Claude Sonnet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49040" y="914400"/>
            <a:ext cx="1645920" cy="3840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749040" y="914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GPT-4o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914400"/>
            <a:ext cx="1645920" cy="3840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94960" y="914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Gemini 1.5 Pro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914400"/>
            <a:ext cx="1645920" cy="38404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040880" y="914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Mistral Large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29844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1298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Structured JSON output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03120" y="129844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103120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Excellent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29844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749040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Good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29844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394960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Moderate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129844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040880" y="1298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Good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682496"/>
            <a:ext cx="18288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74320" y="16824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Instruction following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1682496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103120" y="1682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Very strong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1682496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749040" y="1682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Strong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1682496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94960" y="1682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Good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1682496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040880" y="1682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Moderate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06654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4320" y="20665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Context window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03120" y="206654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103120" y="2066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200K tokens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206654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749040" y="2066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128K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94960" y="206654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394960" y="2066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1M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206654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040880" y="2066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32K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450592"/>
            <a:ext cx="18288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74320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Resume extraction quality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103120" y="2450592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103120" y="2450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High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2450592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749040" y="2450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High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94960" y="2450592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394960" y="2450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Moderate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40880" y="2450592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040880" y="2450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Moderate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283464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74320" y="2834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Cost (Sonnet tier)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103120" y="283464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103120" y="2834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✓ Low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283464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749040" y="2834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Higher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394960" y="283464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5394960" y="2834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Low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40880" y="283464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040880" y="2834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Low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3218688"/>
            <a:ext cx="18288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74320" y="32186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Chosen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103120" y="3218688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103120" y="3218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</a:rPr>
              <a:t>✅ Yes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749040" y="3218688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3749040" y="3218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—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394960" y="3218688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394960" y="3218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—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040880" y="3218688"/>
            <a:ext cx="1645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7040880" y="3218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—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3703320"/>
            <a:ext cx="859536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5720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456"/>
                </a:solidFill>
              </a:rPr>
              <a:t>Why OpenRouter?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57200" y="40050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Single API endpoint for any model · swap models via OPENROUTER_MODEL env var · no SDK dependency lock-in · cost tracking dashboard · fallback routing if model is unavailable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Scoring Rubric — 5 Dimensions, Weighted Total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Skills Match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16152"/>
            <a:ext cx="18288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16152"/>
            <a:ext cx="27432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92608" y="1234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9052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0 – Poor: &lt; 30% skills overlap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92040" y="9052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5 – Average: 50–70% match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31720" y="121615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10 – Excellent: &gt; 85% match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673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Experience Relevance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20824"/>
            <a:ext cx="18288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020824"/>
            <a:ext cx="228600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" y="20391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0 – Poor: Unrelated domain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5 – Average: Adjacent domain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202082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10 – Excellent: Exact domain &amp; seniority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24780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Project / Portfolio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25496"/>
            <a:ext cx="18288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2825496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2608" y="2843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0 – Poor: No evidence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5 – Average: 1–2 generic projects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31720" y="28254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10 – Excellent: Strong relevant portfolio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32826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Education &amp; Certs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30168"/>
            <a:ext cx="18288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74320" y="3630168"/>
            <a:ext cx="13716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92608" y="36484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31720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0 – Poor: Below minimum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5 – Average: Meets minimum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31720" y="363016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10 – Excellent: Exceeds + extra certs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Communication Quality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18288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914400" cy="2743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2608" y="44531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31720" y="4123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0 – Poor: Poor structure / grammar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4123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5 – Average: Adequate clarity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31720" y="443484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10 – Excellent: Crisp, professional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Hire threshold: Weighted total ≥ 6.0 / 10  ·  Formula: (Skills×0.30) + (Exp×0.25) + (Projects×0.20) + (Education×0.15) + (Comm×0.10)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Security Mitigations — Mandatory Disclosure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91440" cy="11887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91B1B"/>
                </a:solidFill>
              </a:rPr>
              <a:t>Prompt Injection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sanitize.js strips injection patterns before text enters prompts. LLM instructed JSON-only output. Response parsed in try/catch — injected instructions become string values, not executed commands.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91440" cy="1188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92040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2400E"/>
                </a:solidFill>
              </a:rPr>
              <a:t>API Key Exposure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OPENROUTER_API_KEY stored in .env via dotenv. .env in .gitignore. Only .env.example committed. Never hardcoded. Key never logged.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91440" cy="1188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</a:rPr>
              <a:t>PII in Logs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62432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Candidate names/emails never written to console.log. Raw resume text not printed. File paths stripped from API responses. AuditLog stores only job ID + score delta — no personal data.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2240280"/>
            <a:ext cx="91440" cy="11887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9204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532D"/>
                </a:solidFill>
              </a:rPr>
              <a:t>Hallucination Risk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262432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"Do not invent information" in profile parser prompt. All responses validated against JSON schema. Scores clamped with Math.min/max. One retry before failing gracefully.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91440" cy="11887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21A8"/>
                </a:solidFill>
              </a:rPr>
              <a:t>Unauthorised Access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9502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All /api routes behind authMiddleware (x-api-key header check). Global rate limit 60 req/min. Agent routes 10 req/min. Returns 401 on invalid key.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FCE7F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91440" cy="118872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92040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D174D"/>
                </a:solidFill>
              </a:rPr>
              <a:t>Malicious Uploads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39502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Multer checks MIME type AND extension. Only PDF/DOCX accepted. Max 5 MB per file. Max 20 files per batch. Files stored in isolated uploads/ directory.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Sample Output — 5 Test Resumes, Senior React Developer JD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172968"/>
            <a:ext cx="530352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840480" y="3035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Hire threshold 6.0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806440" y="822960"/>
            <a:ext cx="3017520" cy="71323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943600" y="877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Arjun Mehta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1704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32D"/>
                </a:solidFill>
              </a:rPr>
              <a:t>HIRE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01000" y="96926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59669"/>
                </a:solidFill>
              </a:rPr>
              <a:t>8.5 / 10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806440" y="1627632"/>
            <a:ext cx="3017520" cy="713232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43600" y="1682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Priya Sharma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19751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32D"/>
                </a:solidFill>
              </a:rPr>
              <a:t>HIRE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01000" y="17739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59669"/>
                </a:solidFill>
              </a:rPr>
              <a:t>7.0 / 10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06440" y="2432304"/>
            <a:ext cx="3017520" cy="713232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943600" y="2487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Rohit Verma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2779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</a:rPr>
              <a:t>NO HIRE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01000" y="25786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06"/>
                </a:solidFill>
              </a:rPr>
              <a:t>4.5 / 10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06440" y="3236976"/>
            <a:ext cx="3017520" cy="71323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943600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Sneha Pillai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0" y="3584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NO HIRE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001000" y="338328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2626"/>
                </a:solidFill>
              </a:rPr>
              <a:t>2.5 / 10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06440" y="4041648"/>
            <a:ext cx="3017520" cy="71323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943600" y="4096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Vikram Nair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0" y="43891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NO HIRE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01000" y="41879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C2626"/>
                </a:solidFill>
              </a:rPr>
              <a:t>1.0 / 10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2 candidates above hire threshold  ·  Scores include per-dimension justifications in full report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 Stack &amp; Design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91440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4048" y="9326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Frontend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React 18 + Vite + Tailwind CSS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Fast dev server, tree-shaking, utility-first styling — ideal for rapid prototype UI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206240" cy="9144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18888" y="9326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Backend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18888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Node.js + Express.js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18888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Same language as frontend, lightweight for a prototype, rich npm ecosystem for file parsing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4206240" cy="9144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19568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Database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MongoDB + Mongoose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441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Schema-flexible — candidate profiles and scores vary; no fixed columns needed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892808"/>
            <a:ext cx="4206240" cy="91440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18888" y="19568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File Parsing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8888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pdf-parse (PDF)  +  mammoth (DOCX)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2441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Lightweight, no native deps, extract clean text ready for LLM prompts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16936"/>
            <a:ext cx="4206240" cy="9144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29809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LLM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3191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Claude Sonnet 4.5 via OpenRouter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4655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Best structured JSON output quality; OpenRouter gives model flexibility with one API key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916936"/>
            <a:ext cx="4206240" cy="914400"/>
          </a:xfrm>
          <a:prstGeom prst="rect">
            <a:avLst/>
          </a:prstGeom>
          <a:solidFill>
            <a:srgbClr val="FCE7F3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18888" y="29809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Agent Pattern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8888" y="3191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Custom sequential pipeline (no LangChain)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18888" y="34655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Linear deterministic flow needs no agent framework — full prompt control, easier debug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941064"/>
            <a:ext cx="4206240" cy="914400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84048" y="40050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Report Export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" y="4215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PDFKit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4489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Programmatic PDF generation in Node — no external service, works offline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941064"/>
            <a:ext cx="420624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18888" y="40050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Security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8888" y="4215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helmet + express-rate-limit + dotenv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18888" y="4489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Standard Express security layer — CSP headers, rate limiting, env-based secrets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Learnings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96926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LLMs ignore 'no markdown' instructions — always strip fences before JSON.parse()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70078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Structured output is everything — define the schema in the system prompt, not just the user turn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41401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Rate limiting AI endpoints matters — multiple resume uploads can spike API costs fast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12724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Human-in-the-loop isn't optional — AI scores need an override mechanism to be production-ready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382219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OpenRouter's model-agnostic API makes prototyping faster — swap model with one env var change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77840" y="365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0" y="960120"/>
            <a:ext cx="3383280" cy="621792"/>
          </a:xfrm>
          <a:prstGeom prst="rect">
            <a:avLst/>
          </a:prstGeom>
          <a:solidFill>
            <a:srgbClr val="1E3A6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57784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10607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LinkedIn profile JSON ingestion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709928"/>
            <a:ext cx="3383280" cy="621792"/>
          </a:xfrm>
          <a:prstGeom prst="rect">
            <a:avLst/>
          </a:prstGeom>
          <a:solidFill>
            <a:srgbClr val="1E3A6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57784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18105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LangChain caching to reduce API cost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459736"/>
            <a:ext cx="3383280" cy="621792"/>
          </a:xfrm>
          <a:prstGeom prst="rect">
            <a:avLst/>
          </a:prstGeom>
          <a:solidFill>
            <a:srgbClr val="1E3A6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77840" y="2505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5040" y="2560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LangSmith / Langfuse observability tracing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3209544"/>
            <a:ext cx="3383280" cy="621792"/>
          </a:xfrm>
          <a:prstGeom prst="rect">
            <a:avLst/>
          </a:prstGeom>
          <a:solidFill>
            <a:srgbClr val="1E3A6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57784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3310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OAuth login for multi-HR-user support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3959352"/>
            <a:ext cx="3383280" cy="621792"/>
          </a:xfrm>
          <a:prstGeom prst="rect">
            <a:avLst/>
          </a:prstGeom>
          <a:solidFill>
            <a:srgbClr val="1E3A6E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57784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35040" y="40599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Batch async scoring with job queue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6634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CA7F8"/>
                </a:solidFill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1237</Words>
  <Application>Microsoft Office PowerPoint</Application>
  <PresentationFormat>On-screen Show (16:9)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Resume Shortlisting Agent</dc:title>
  <dc:subject>PptxGenJS Presentation</dc:subject>
  <dc:creator>AI Enablement Internship</dc:creator>
  <cp:lastModifiedBy>Soumya Jain</cp:lastModifiedBy>
  <cp:revision>3</cp:revision>
  <dcterms:created xsi:type="dcterms:W3CDTF">2026-05-10T06:08:45Z</dcterms:created>
  <dcterms:modified xsi:type="dcterms:W3CDTF">2026-05-13T16:15:30Z</dcterms:modified>
</cp:coreProperties>
</file>